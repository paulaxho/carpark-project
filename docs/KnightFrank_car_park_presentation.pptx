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94" r:id="rId3"/>
    <p:sldId id="296" r:id="rId4"/>
    <p:sldId id="280" r:id="rId5"/>
    <p:sldId id="265" r:id="rId6"/>
    <p:sldId id="266" r:id="rId7"/>
    <p:sldId id="268" r:id="rId8"/>
    <p:sldId id="295" r:id="rId9"/>
    <p:sldId id="269" r:id="rId10"/>
    <p:sldId id="289" r:id="rId11"/>
    <p:sldId id="292" r:id="rId12"/>
    <p:sldId id="267" r:id="rId13"/>
    <p:sldId id="297" r:id="rId14"/>
    <p:sldId id="258" r:id="rId15"/>
    <p:sldId id="288" r:id="rId16"/>
    <p:sldId id="260" r:id="rId17"/>
    <p:sldId id="299" r:id="rId18"/>
    <p:sldId id="300" r:id="rId19"/>
    <p:sldId id="298" r:id="rId20"/>
    <p:sldId id="275" r:id="rId21"/>
    <p:sldId id="276" r:id="rId22"/>
    <p:sldId id="301" r:id="rId23"/>
    <p:sldId id="302" r:id="rId24"/>
    <p:sldId id="303" r:id="rId25"/>
    <p:sldId id="277" r:id="rId26"/>
    <p:sldId id="282" r:id="rId27"/>
    <p:sldId id="283" r:id="rId28"/>
    <p:sldId id="284" r:id="rId29"/>
    <p:sldId id="281" r:id="rId30"/>
    <p:sldId id="285" r:id="rId31"/>
    <p:sldId id="286" r:id="rId32"/>
    <p:sldId id="272" r:id="rId33"/>
    <p:sldId id="305" r:id="rId34"/>
    <p:sldId id="274" r:id="rId35"/>
    <p:sldId id="290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7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9023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LAYOUT. Replace the dashed box with the official Knight Frank logo (top-left). Swap the placeholder green/gold accent for the official KF colours. Serif headline = Cambria stand-in for KF Domaine/New Baskerville.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Roadmap. Problem, approach, the build steps, testing, results, and where it goes.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commercial question and the technical obstacle.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CDC4B-C612-7363-691D-81CF5BA49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F3FDC5-1F1E-3AF7-C85A-21BCC26D5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39C0F8-ABED-B420-1D2B-9BE63FFBE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commercial hook. Footfall drives value but is awkward to measure and to compare across a portfolio. The car park is the customer gateway, so watching it fill and empty is an indirect but informative signal of trade. The whole project rests on this: occupancy as a proxy for how busy a store is — provided we can measure it reliably and at scale, which is the technical challenge.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CB652-2677-1209-A45E-CCAACA3121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9078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421EF-7996-85D5-60C1-8F65E0009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3B760F-5CB0-E1FC-CD24-358D56DDEC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D60E55-AEAB-B126-F0E7-FDFAC09A2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concept in one line: photo in, occupancy out. Three plain steps — find the cars, count them, divide by capacity. The prize is scale and consistency: one system across hundreds of sites, comparable on equal terms. The next few slides are about the one hard part — reliably finding the cars.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2ED24-67FF-FE23-581B-D5F00C90BD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1550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04784-6126-D063-72E4-DBDA31D7E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5F9147-C8CB-7B3B-7A6E-96B29D5AA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C0690F-EA87-DF90-5054-471403D2D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plain. Detection finds and boxes each object. Name the two model families without going deep: YOLO is fast and single-pass (what we use); R-CNN is accurate but heavier. For lots of big aerial images, YOLO's speed is the right trade-off.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BAF2C-C3D9-FFED-A116-08F8928635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94864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42220-FEE2-8E27-E53C-9FBD49C40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D529B1-CBFA-807A-2222-25660C28A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73E871-7F46-5CBE-EB80-FA0761D2F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obstacles, plainly. Small size, image sharpness, and the missing UK data. The prior UK attempt used coarse satellite imagery and detected only ~11% of cars — the resolution point in action.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28570-27A2-83F4-ED5D-ED1161AF01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82492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strategy and the datasets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3DEEC-6C66-7F0B-4EE6-50431FC3B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FAAC6-0158-AAD7-5896-7C63E51DF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9987BF-0303-A6FF-F03D-CCED9E276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moves: learn what a car looks like from above using existing data, then teach it UK car parks with a small hand-labelled set. Emphasise that the local step is small but decisive.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E2DF6-2808-81E6-E3F3-E398D1614F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70704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[INSERT under §02 The Approach] Why two datasets: COWC teaches the dense/occluded case that looks like UK retail; VEDAI adds breadth. Both are resolution-matched.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[INSERT under the 'Manually Annotated UK retail dataset' section] The manual labelling stage you showed last time — 30 sites, every car boxed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Orientation slide. Show the whole pipeline once, then unpack each box. Same recipe applied to every data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build, step by step. Non-technical but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[INSERT under §03 Training] Box conversion — the first prep step. Dots -&gt; squares; square is rotation-agnostic.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[INSERT under §03 Training] Resolution matching. Train at the sharpness you deploy at; 25 cm is the sweet spot.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[INSERT under §03 Training] Tiling with overlap so no vehicle is cut in half at a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Site-level, frozen split — no tile leakage, no cherry-picking. The composition chart shows how few labelled sites the training actually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Combining COWC+VEDAI recovers cross-domain coverage. Bright diagonal = specialists; bright everywhere =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Experimental design and fairness.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Clean design: one benchmark, three levels of adaptation.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fairness safeguards — pre-empts 'did you make it look good?'.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adaptation ladder. A little local data beats a lot of generic data — affordable to stand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Qualitative proof on one site: red and amber clear up left-to-right as adaptation is added. Makes the metric ladder tangible.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FD3FF-82C5-C28B-2D0B-13A47058B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7038F6-FE52-0BD7-1EEE-8A3B7C4533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FE870-4990-27BF-3918-DF14E363E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drop, then recovery from a little local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E50DE-ED36-7783-8964-66C0658B99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76487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detections to a defensible occupancy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rigour that separates this from the prior UK study, which conflated the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De-duplication across tile seams, then occupancy. Plain: don't count the same car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C0DB7-C034-5896-922F-9CE235D17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185C4-AAFF-471F-E6FD-B62ACDF09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7B3122-5E1B-5D8E-6CA4-E95A839BE6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Occupancy to within ~2.6 pp, R² 0.97. Unadapted models can't count — only the adapted one is trustworthy.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16D8C-5853-D745-51A5-792EFC2D51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97880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spatial differentiator.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 behind the entrance finding: compare where cars are vs where space is, relative to the door.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differentiator. We don't just get a number, we get a map: demand organises around the shop door. Commercially, that tells you where footfall concentrates within a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 proposition: scalable, affordable, richer-than-a-number.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close on limitations and roadmap. Today it is a snapshot; the real product is the trend over time. Crucially that is a data step, not a research problem — the system is ready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Close, invite questions. Be ready for: how capacity is defined; is eight sites enough; comparison to prior UK work; what the temporal product looks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2743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B8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EMERGING DIGITAL TECHNOLOGIES  ·  UCL × KNIGHT FRANK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Estimating UK Retail Car-Park Occupancy from High-Resolution Aerial Imagery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892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domain-adapted object-detection approach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Paula Xho Vilajeti</a:t>
            </a: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Academic supervisor: Dr David Vidal Tomas   ·   Industrial supervisor: Toby Merritt, Knight Frank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710D75-F680-7360-CD7D-968910421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92797"/>
            <a:ext cx="1727200" cy="70977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E25428B2-4A8F-B843-B9BA-0ACB9BE58A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04401" y="485604"/>
            <a:ext cx="1869439" cy="5241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93268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B8A66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737360" y="196596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background — occupancy as a retail-activity signal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532888"/>
            <a:ext cx="10515600" cy="0"/>
          </a:xfrm>
          <a:prstGeom prst="line">
            <a:avLst/>
          </a:prstGeom>
          <a:noFill/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58775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B8A66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737360" y="258775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 &amp; data — learn broadly, then adapt to the UK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3154680"/>
            <a:ext cx="10515600" cy="0"/>
          </a:xfrm>
          <a:prstGeom prst="line">
            <a:avLst/>
          </a:prstGeom>
          <a:noFill/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320954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B8A66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737360" y="320954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Training the model — the pipeline, step by step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2960" y="3776472"/>
            <a:ext cx="10515600" cy="0"/>
          </a:xfrm>
          <a:prstGeom prst="line">
            <a:avLst/>
          </a:prstGeom>
          <a:noFill/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383133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B8A66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737360" y="383133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Testing on UK data — three experiments, scored fairly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22960" y="4398264"/>
            <a:ext cx="10515600" cy="0"/>
          </a:xfrm>
          <a:prstGeom prst="line">
            <a:avLst/>
          </a:prstGeom>
          <a:noFill/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" y="44531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B8A66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737360" y="445312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detection, counting &amp; occupancy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2960" y="5020056"/>
            <a:ext cx="10515600" cy="0"/>
          </a:xfrm>
          <a:prstGeom prst="line">
            <a:avLst/>
          </a:prstGeom>
          <a:noFill/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" y="50749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B8A66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737360" y="507492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Counting &amp; occupancy — turning boxes into a trusted number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2960" y="5641848"/>
            <a:ext cx="10515600" cy="0"/>
          </a:xfrm>
          <a:prstGeom prst="line">
            <a:avLst/>
          </a:prstGeom>
          <a:noFill/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2960" y="569671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B8A66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737360" y="569671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Where demand sits — the within-lot geography, and next steps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22960" y="6263640"/>
            <a:ext cx="10515600" cy="0"/>
          </a:xfrm>
          <a:prstGeom prst="line">
            <a:avLst/>
          </a:prstGeom>
          <a:noFill/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296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UK CAR-PARK OCCUPANCY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280160" cy="0"/>
          </a:xfrm>
          <a:prstGeom prst="line">
            <a:avLst/>
          </a:prstGeom>
          <a:noFill/>
          <a:ln w="25400">
            <a:solidFill>
              <a:srgbClr val="B8A66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400" normalizeH="0" baseline="0" noProof="0" dirty="0">
                <a:ln>
                  <a:noFill/>
                </a:ln>
                <a:solidFill>
                  <a:srgbClr val="B8A6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Background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44348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9AA0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car-park occupancy is worth measuring — and why it is hard.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/tmp/kf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502920"/>
            <a:ext cx="2194560" cy="9052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3C7776-C9C5-67D6-6135-428DFB7F8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5B70741-F3D4-2812-DD25-DC333BB0DA2A}"/>
              </a:ext>
            </a:extLst>
          </p:cNvPr>
          <p:cNvSpPr/>
          <p:nvPr/>
        </p:nvSpPr>
        <p:spPr>
          <a:xfrm>
            <a:off x="82296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2F9682-5B6E-DA5E-86BD-D0FD5C397D80}"/>
              </a:ext>
            </a:extLst>
          </p:cNvPr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How busy is a store — and could we tell from above?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410DE38-67FD-698A-6D29-9D6BB5030ABA}"/>
              </a:ext>
            </a:extLst>
          </p:cNvPr>
          <p:cNvSpPr/>
          <p:nvPr/>
        </p:nvSpPr>
        <p:spPr>
          <a:xfrm>
            <a:off x="822960" y="1920240"/>
            <a:ext cx="5852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busy a store is — its footfall — is valuable information for retail and real-estate, but it is hard and expensive to measure.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In-store sensors must be fitted store by store; mobile-location data is patchy and hard to compare fairly across a whole portfolio.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 most out-of-town and edge-of-centre stores, the car park is the front door: it fills when trade is brisk and empties when it is slow.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D5BDF5A-DE8D-0A6C-E9DF-E33FF981794C}"/>
              </a:ext>
            </a:extLst>
          </p:cNvPr>
          <p:cNvSpPr/>
          <p:nvPr/>
        </p:nvSpPr>
        <p:spPr>
          <a:xfrm>
            <a:off x="7040880" y="1920240"/>
            <a:ext cx="4480560" cy="3291840"/>
          </a:xfrm>
          <a:prstGeom prst="roundRect">
            <a:avLst>
              <a:gd name="adj" fmla="val 1667"/>
            </a:avLst>
          </a:prstGeom>
          <a:solidFill>
            <a:srgbClr val="ECE7DE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6F14A80-96BB-C23D-E985-93E09C2823AF}"/>
              </a:ext>
            </a:extLst>
          </p:cNvPr>
          <p:cNvSpPr/>
          <p:nvPr/>
        </p:nvSpPr>
        <p:spPr>
          <a:xfrm>
            <a:off x="736092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30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F5A4313-39B6-87D9-D696-69C7475FBC49}"/>
              </a:ext>
            </a:extLst>
          </p:cNvPr>
          <p:cNvSpPr/>
          <p:nvPr/>
        </p:nvSpPr>
        <p:spPr>
          <a:xfrm>
            <a:off x="7360920" y="2606040"/>
            <a:ext cx="3886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1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Car-park occupancy is a practical stand-in for how busy a store is — if we can measure it reliably, and at scale.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0249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4F03D8-5AA0-80B4-C39B-FEA2F0715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EEB869C-5863-9ED4-E1D7-8809D9FCCDAE}"/>
              </a:ext>
            </a:extLst>
          </p:cNvPr>
          <p:cNvSpPr/>
          <p:nvPr/>
        </p:nvSpPr>
        <p:spPr>
          <a:xfrm>
            <a:off x="82296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4A7AFEF-5F9A-98C9-294C-4470E91E6FB3}"/>
              </a:ext>
            </a:extLst>
          </p:cNvPr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Measure it from the sky — hundreds of sites, one system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DB8CACC-7F3A-A0AB-EE3F-FBCE7F13BAE2}"/>
              </a:ext>
            </a:extLst>
          </p:cNvPr>
          <p:cNvSpPr/>
          <p:nvPr/>
        </p:nvSpPr>
        <p:spPr>
          <a:xfrm>
            <a:off x="822960" y="1874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fitting equipment at every store, a single system can observe hundreds of car parks from above — and turn each image into one simple, comparable number.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3F3C4F1-CED5-2770-D049-E77DD70575A8}"/>
              </a:ext>
            </a:extLst>
          </p:cNvPr>
          <p:cNvSpPr/>
          <p:nvPr/>
        </p:nvSpPr>
        <p:spPr>
          <a:xfrm>
            <a:off x="960120" y="3291840"/>
            <a:ext cx="31089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930E878-9D0B-5E7A-E5AC-741A4D344E7E}"/>
              </a:ext>
            </a:extLst>
          </p:cNvPr>
          <p:cNvSpPr/>
          <p:nvPr/>
        </p:nvSpPr>
        <p:spPr>
          <a:xfrm>
            <a:off x="1234440" y="3520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B8A66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F0AD220-3A26-434E-81D5-DE4EDD10DFCA}"/>
              </a:ext>
            </a:extLst>
          </p:cNvPr>
          <p:cNvSpPr/>
          <p:nvPr/>
        </p:nvSpPr>
        <p:spPr>
          <a:xfrm>
            <a:off x="1234440" y="4023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Aerial image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F75B21D-FF37-806C-A72C-2F7D228DD304}"/>
              </a:ext>
            </a:extLst>
          </p:cNvPr>
          <p:cNvSpPr/>
          <p:nvPr/>
        </p:nvSpPr>
        <p:spPr>
          <a:xfrm>
            <a:off x="1234440" y="44805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the car park, from above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8208216-5EE8-DDE8-2DA7-F55840DA9B06}"/>
              </a:ext>
            </a:extLst>
          </p:cNvPr>
          <p:cNvSpPr/>
          <p:nvPr/>
        </p:nvSpPr>
        <p:spPr>
          <a:xfrm>
            <a:off x="4050792" y="3291840"/>
            <a:ext cx="640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4471C37-CF65-8D92-72BE-AB9A82B3E268}"/>
              </a:ext>
            </a:extLst>
          </p:cNvPr>
          <p:cNvSpPr/>
          <p:nvPr/>
        </p:nvSpPr>
        <p:spPr>
          <a:xfrm>
            <a:off x="4663440" y="3291840"/>
            <a:ext cx="31089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D49798C-C3BE-040B-B4D2-A65A7228492D}"/>
              </a:ext>
            </a:extLst>
          </p:cNvPr>
          <p:cNvSpPr/>
          <p:nvPr/>
        </p:nvSpPr>
        <p:spPr>
          <a:xfrm>
            <a:off x="4937760" y="3520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B8A66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E5C21E2-FB6D-644A-D9B7-29FAB3507E88}"/>
              </a:ext>
            </a:extLst>
          </p:cNvPr>
          <p:cNvSpPr/>
          <p:nvPr/>
        </p:nvSpPr>
        <p:spPr>
          <a:xfrm>
            <a:off x="4937760" y="4023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Count the cars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23CE80E-7265-AA4A-4BF6-7DE7060D9514}"/>
              </a:ext>
            </a:extLst>
          </p:cNvPr>
          <p:cNvSpPr/>
          <p:nvPr/>
        </p:nvSpPr>
        <p:spPr>
          <a:xfrm>
            <a:off x="4937760" y="44805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find every vehicle in the image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91353B9-081B-8DE5-5E99-2B1164EAE9F7}"/>
              </a:ext>
            </a:extLst>
          </p:cNvPr>
          <p:cNvSpPr/>
          <p:nvPr/>
        </p:nvSpPr>
        <p:spPr>
          <a:xfrm>
            <a:off x="7754112" y="3291840"/>
            <a:ext cx="640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82D927B-FE82-2148-EFC8-1B4DA38071E9}"/>
              </a:ext>
            </a:extLst>
          </p:cNvPr>
          <p:cNvSpPr/>
          <p:nvPr/>
        </p:nvSpPr>
        <p:spPr>
          <a:xfrm>
            <a:off x="8366760" y="3291840"/>
            <a:ext cx="31089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F3AD6D9-83C6-6E10-2157-0ED00ABDE1A0}"/>
              </a:ext>
            </a:extLst>
          </p:cNvPr>
          <p:cNvSpPr/>
          <p:nvPr/>
        </p:nvSpPr>
        <p:spPr>
          <a:xfrm>
            <a:off x="8641080" y="3520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B8A66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BC05CAB-48D8-AF07-CBCC-3C0A557A62A6}"/>
              </a:ext>
            </a:extLst>
          </p:cNvPr>
          <p:cNvSpPr/>
          <p:nvPr/>
        </p:nvSpPr>
        <p:spPr>
          <a:xfrm>
            <a:off x="8641080" y="4023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Occupancy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4AFECEB-D972-CD54-0DE3-0B876F24A602}"/>
              </a:ext>
            </a:extLst>
          </p:cNvPr>
          <p:cNvSpPr/>
          <p:nvPr/>
        </p:nvSpPr>
        <p:spPr>
          <a:xfrm>
            <a:off x="8641080" y="44805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cars ÷ capacity = how full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8ABA5BF-B942-B994-328C-5140B752E0E7}"/>
              </a:ext>
            </a:extLst>
          </p:cNvPr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 it consistently and any two stores can be compared on equal terms — the whole point for a portfolio.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7609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00038D-B483-8BB6-36AF-9608B50CF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>
            <a:extLst>
              <a:ext uri="{FF2B5EF4-FFF2-40B4-BE49-F238E27FC236}">
                <a16:creationId xmlns:a16="http://schemas.microsoft.com/office/drawing/2014/main" id="{C646B84C-0E30-864C-CF99-D7FA34FF137A}"/>
              </a:ext>
            </a:extLst>
          </p:cNvPr>
          <p:cNvSpPr/>
          <p:nvPr/>
        </p:nvSpPr>
        <p:spPr>
          <a:xfrm>
            <a:off x="4582160" y="3848171"/>
            <a:ext cx="6786880" cy="277361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blurRad="101600" dist="25400" dir="5400000" algn="bl" rotWithShape="0">
              <a:srgbClr val="9FB0BC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DF44071-ABA0-6698-BC90-ED080586AF72}"/>
              </a:ext>
            </a:extLst>
          </p:cNvPr>
          <p:cNvSpPr/>
          <p:nvPr/>
        </p:nvSpPr>
        <p:spPr>
          <a:xfrm>
            <a:off x="82296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· THE TECHNOLOGY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F3A74A-447A-7BFB-669D-1120C1C7788A}"/>
              </a:ext>
            </a:extLst>
          </p:cNvPr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What is “object detection”?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1E03CC5-AEAB-F940-7EDD-439B7A0B32E1}"/>
              </a:ext>
            </a:extLst>
          </p:cNvPr>
          <p:cNvSpPr/>
          <p:nvPr/>
        </p:nvSpPr>
        <p:spPr>
          <a:xfrm>
            <a:off x="822960" y="1874520"/>
            <a:ext cx="5760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is the computer-vision task of finding each object in an image and drawing a box around it — here, every car.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Two families dominate. Fast “one-look” detectors (the YOLO family) scan the whole image in a single pass; slower two-step detectors (the R-CNN family) are a little more accurate but much heavier.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 scanning many large aerial images at reasonable cost, speed and simplicity win — so this project builds on YOLO (specifically YOLOv8).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4434896-F3DB-FA9F-1568-682058F9F677}"/>
              </a:ext>
            </a:extLst>
          </p:cNvPr>
          <p:cNvSpPr/>
          <p:nvPr/>
        </p:nvSpPr>
        <p:spPr>
          <a:xfrm>
            <a:off x="6167120" y="6568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Detection = one box drawn around each car.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E335CE-D63E-90A1-1935-260F07C5D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280" y="3848171"/>
            <a:ext cx="6715760" cy="277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672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7E27F7-1DC7-BAE1-6FCC-B75B6E3AF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F4F7291-E5AE-21C4-805A-D4B8654074A3}"/>
              </a:ext>
            </a:extLst>
          </p:cNvPr>
          <p:cNvSpPr/>
          <p:nvPr/>
        </p:nvSpPr>
        <p:spPr>
          <a:xfrm>
            <a:off x="82296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8BC399-B353-4AFF-2D74-DEA3962200D7}"/>
              </a:ext>
            </a:extLst>
          </p:cNvPr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Why reading the photo is genuinely hard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0202796-67C4-8B1E-64BE-D6F718792A55}"/>
              </a:ext>
            </a:extLst>
          </p:cNvPr>
          <p:cNvSpPr/>
          <p:nvPr/>
        </p:nvSpPr>
        <p:spPr>
          <a:xfrm>
            <a:off x="822960" y="2103120"/>
            <a:ext cx="338328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F3CBF6E-BEA1-2F4E-9014-3A7A446F170E}"/>
              </a:ext>
            </a:extLst>
          </p:cNvPr>
          <p:cNvSpPr/>
          <p:nvPr/>
        </p:nvSpPr>
        <p:spPr>
          <a:xfrm>
            <a:off x="1078992" y="23042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B8A66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1E7950C-65A6-3AFE-79F8-FB249D691BAC}"/>
              </a:ext>
            </a:extLst>
          </p:cNvPr>
          <p:cNvSpPr/>
          <p:nvPr/>
        </p:nvSpPr>
        <p:spPr>
          <a:xfrm>
            <a:off x="1078992" y="2816352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Cars are tiny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E5D9742-5116-410D-F1DA-D2D9232DB77B}"/>
              </a:ext>
            </a:extLst>
          </p:cNvPr>
          <p:cNvSpPr/>
          <p:nvPr/>
        </p:nvSpPr>
        <p:spPr>
          <a:xfrm>
            <a:off x="1078992" y="3337560"/>
            <a:ext cx="2871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From directly above, a car is only a handful of pixels — easily missed, or merged with its neighbour.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AC77988-D22D-47B7-4C98-88A61D5C5023}"/>
              </a:ext>
            </a:extLst>
          </p:cNvPr>
          <p:cNvSpPr/>
          <p:nvPr/>
        </p:nvSpPr>
        <p:spPr>
          <a:xfrm>
            <a:off x="4434840" y="2103120"/>
            <a:ext cx="338328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B3E07BC-865F-AFD0-3E5E-28202EF0A42B}"/>
              </a:ext>
            </a:extLst>
          </p:cNvPr>
          <p:cNvSpPr/>
          <p:nvPr/>
        </p:nvSpPr>
        <p:spPr>
          <a:xfrm>
            <a:off x="4690872" y="23042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B8A66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D019158-0FF5-3806-26A5-361702259076}"/>
              </a:ext>
            </a:extLst>
          </p:cNvPr>
          <p:cNvSpPr/>
          <p:nvPr/>
        </p:nvSpPr>
        <p:spPr>
          <a:xfrm>
            <a:off x="4690872" y="2816352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decides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7BB8A69-71BF-5AFA-641E-47111C1E620D}"/>
              </a:ext>
            </a:extLst>
          </p:cNvPr>
          <p:cNvSpPr/>
          <p:nvPr/>
        </p:nvSpPr>
        <p:spPr>
          <a:xfrm>
            <a:off x="4690872" y="3337560"/>
            <a:ext cx="2871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sharp the image is largely decides whether a car can be seen at all. Coarse satellite imagery is not enough.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A5B7DD0-948E-CBE8-88EF-A3A8B75CE614}"/>
              </a:ext>
            </a:extLst>
          </p:cNvPr>
          <p:cNvSpPr/>
          <p:nvPr/>
        </p:nvSpPr>
        <p:spPr>
          <a:xfrm>
            <a:off x="8046720" y="2103120"/>
            <a:ext cx="338328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9866F7F-2249-E341-8C26-9618D66C2E13}"/>
              </a:ext>
            </a:extLst>
          </p:cNvPr>
          <p:cNvSpPr/>
          <p:nvPr/>
        </p:nvSpPr>
        <p:spPr>
          <a:xfrm>
            <a:off x="8302752" y="23042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B8A66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DE8525A-3974-FA86-4827-A6897DDDB519}"/>
              </a:ext>
            </a:extLst>
          </p:cNvPr>
          <p:cNvSpPr/>
          <p:nvPr/>
        </p:nvSpPr>
        <p:spPr>
          <a:xfrm>
            <a:off x="8302752" y="2816352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No UK data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A8EFBE8-648B-5A51-39BC-568D5D4A2053}"/>
              </a:ext>
            </a:extLst>
          </p:cNvPr>
          <p:cNvSpPr/>
          <p:nvPr/>
        </p:nvSpPr>
        <p:spPr>
          <a:xfrm>
            <a:off x="8302752" y="3337560"/>
            <a:ext cx="2871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ready-made dataset covers UK car parks, so a detector trained on foreign imagery cannot be assumed to work here.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9E81569-3CF9-FC95-936F-6494B1AE4D7A}"/>
              </a:ext>
            </a:extLst>
          </p:cNvPr>
          <p:cNvSpPr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are exactly why earlier attempts struggled — and what the approach is designed to overcome.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4975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280160" cy="0"/>
          </a:xfrm>
          <a:prstGeom prst="line">
            <a:avLst/>
          </a:prstGeom>
          <a:noFill/>
          <a:ln w="25400">
            <a:solidFill>
              <a:srgbClr val="B8A66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400" normalizeH="0" baseline="0" noProof="0" dirty="0">
                <a:ln>
                  <a:noFill/>
                </a:ln>
                <a:solidFill>
                  <a:srgbClr val="B8A6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Approach &amp; Data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44348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9AA0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Learn what a car looks like from above — then teach it UK car parks.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/tmp/kf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502920"/>
            <a:ext cx="2194560" cy="9052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B67E55-6801-B59F-5E1A-BECC74853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93EE9B9-645D-446F-DB81-5E51EE13E80E}"/>
              </a:ext>
            </a:extLst>
          </p:cNvPr>
          <p:cNvSpPr/>
          <p:nvPr/>
        </p:nvSpPr>
        <p:spPr>
          <a:xfrm>
            <a:off x="82296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9DCD6F6-C83C-5F1C-F42A-C5B3A543BD56}"/>
              </a:ext>
            </a:extLst>
          </p:cNvPr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Learn broadly, then adapt to the UK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E18F8AE-7404-613E-DE92-5A3B14426CE4}"/>
              </a:ext>
            </a:extLst>
          </p:cNvPr>
          <p:cNvSpPr/>
          <p:nvPr/>
        </p:nvSpPr>
        <p:spPr>
          <a:xfrm>
            <a:off x="1097280" y="2194560"/>
            <a:ext cx="429768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168D72D-B8A9-ED76-B119-469CE5A7F15A}"/>
              </a:ext>
            </a:extLst>
          </p:cNvPr>
          <p:cNvSpPr/>
          <p:nvPr/>
        </p:nvSpPr>
        <p:spPr>
          <a:xfrm>
            <a:off x="1353312" y="2423160"/>
            <a:ext cx="3785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 · Learn broadly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4259521-12E9-745A-CF89-EE17FDDC3A93}"/>
              </a:ext>
            </a:extLst>
          </p:cNvPr>
          <p:cNvSpPr/>
          <p:nvPr/>
        </p:nvSpPr>
        <p:spPr>
          <a:xfrm>
            <a:off x="1353312" y="2971800"/>
            <a:ext cx="37856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Train the detector on large public collections of overhead car images from the US and Europe, all matched to our image sharpness (~25 cm per pixel).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1C63F47-32D7-2E19-E8F4-5F440C94924E}"/>
              </a:ext>
            </a:extLst>
          </p:cNvPr>
          <p:cNvSpPr/>
          <p:nvPr/>
        </p:nvSpPr>
        <p:spPr>
          <a:xfrm>
            <a:off x="5532120" y="2194560"/>
            <a:ext cx="731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ED1E649-71F3-4BA8-2A26-BFAC0740E798}"/>
              </a:ext>
            </a:extLst>
          </p:cNvPr>
          <p:cNvSpPr/>
          <p:nvPr/>
        </p:nvSpPr>
        <p:spPr>
          <a:xfrm>
            <a:off x="6400800" y="2194560"/>
            <a:ext cx="429768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3528FCC-9B49-5BE1-0216-49F3C65D158A}"/>
              </a:ext>
            </a:extLst>
          </p:cNvPr>
          <p:cNvSpPr/>
          <p:nvPr/>
        </p:nvSpPr>
        <p:spPr>
          <a:xfrm>
            <a:off x="6656832" y="2423160"/>
            <a:ext cx="3785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 · Adapt locally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14984AE-2928-3323-CBBE-78C172E016F3}"/>
              </a:ext>
            </a:extLst>
          </p:cNvPr>
          <p:cNvSpPr/>
          <p:nvPr/>
        </p:nvSpPr>
        <p:spPr>
          <a:xfrm>
            <a:off x="6656832" y="2971800"/>
            <a:ext cx="37856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Fine-tune it on a small, purpose-built set of 30 hand-labelled UK retail car parks — the target it will actually be used on.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A398B94-59C8-1ECF-DEB8-62FC98F33459}"/>
              </a:ext>
            </a:extLst>
          </p:cNvPr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1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little local data does most of the work — the central practical finding of the project.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2688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DATA · SOURCES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Two very different training sources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78992" y="2331720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COWC — United States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78992" y="2834640"/>
            <a:ext cx="46085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Dense, crowded car parks: the tightly packed, overlapping condition that most resembles UK retail. Our main teacher for the hard case.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17920" y="210312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73952" y="2331720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VEDAI — Europe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73952" y="2834640"/>
            <a:ext cx="46085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Sparse, rural scenes with few vehicles per image. Broadens what the model has seen, but deliberately avoids the dense case.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Using both — matched to the same image sharpness — gives the detector the widest, most relevant experience before it ever sees UK data.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DATA · UK GROUND TRUTH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 purpose-built UK dataset — labelled by hand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Thirty UK supermarket car parks — Aldi, Asda, Tesco, Sainsbury's, Lidl, Morrisons and more — chosen to span retailers and lot sizes.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Each car-park boundary was clipped from aerial imagery, then every visible car was boxed by hand in a labelling tool.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This hand-checked set is both what we teach the model on and the honest benchmark it is judged against.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58FF9F27-6E16-96EF-C370-09ED55A09788}"/>
              </a:ext>
            </a:extLst>
          </p:cNvPr>
          <p:cNvSpPr/>
          <p:nvPr/>
        </p:nvSpPr>
        <p:spPr>
          <a:xfrm>
            <a:off x="7040880" y="1788573"/>
            <a:ext cx="45720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A147F1C6-56FE-82BD-717C-BB66E87080B3}"/>
              </a:ext>
            </a:extLst>
          </p:cNvPr>
          <p:cNvSpPr/>
          <p:nvPr/>
        </p:nvSpPr>
        <p:spPr>
          <a:xfrm>
            <a:off x="7040880" y="5931313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 hand-verified, across sparse to full lots.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F8B4C7-1B2C-DDF4-D3B7-E99A4BAA6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984" y="1874520"/>
            <a:ext cx="3655791" cy="39374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2">
            <a:extLst>
              <a:ext uri="{FF2B5EF4-FFF2-40B4-BE49-F238E27FC236}">
                <a16:creationId xmlns:a16="http://schemas.microsoft.com/office/drawing/2014/main" id="{00571C91-3E8E-A499-E990-39886022F06C}"/>
              </a:ext>
            </a:extLst>
          </p:cNvPr>
          <p:cNvSpPr/>
          <p:nvPr/>
        </p:nvSpPr>
        <p:spPr>
          <a:xfrm>
            <a:off x="6812436" y="800518"/>
            <a:ext cx="4297680" cy="5547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blurRad="101600" dist="25400" dir="5400000" algn="bl" rotWithShape="0">
              <a:srgbClr val="9FB0B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822960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 · PIPELINE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93268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at a glance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image — public or UK — flows through the same seven steps.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labels, match the sharpness, tile the scene, split it fairly, fine-tune, then evaluate.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next few slides walk through each step in plain terms.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/tmp/kfmedia/image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71362" y="932688"/>
            <a:ext cx="3878226" cy="5219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82296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UK CAR-PARK OCCUPANCY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280160" cy="0"/>
          </a:xfrm>
          <a:prstGeom prst="line">
            <a:avLst/>
          </a:prstGeom>
          <a:noFill/>
          <a:ln w="25400">
            <a:solidFill>
              <a:srgbClr val="B8A66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400" normalizeH="0" baseline="0" noProof="0" dirty="0">
                <a:ln>
                  <a:noFill/>
                </a:ln>
                <a:solidFill>
                  <a:srgbClr val="B8A6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Training the Model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44348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9AA0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raw aerial images become a detector that works on UK car parks.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/tmp/kf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502920"/>
            <a:ext cx="2194560" cy="9052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TRAINING · STEP 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Turning marks into boxes the model can learn from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5760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data marks each car with a single dot, not a box — but the detector needs boxes to learn from.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 we centre a fixed-size square on each dot. A square, not a rectangle, because cars sit at every angle and a square fits any heading equally.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 sized it on densely parked rows: large enough to cover a car, small enough not to swallow its neighbour.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71AEA45B-9F11-71B9-3228-EA5C66BFFE3B}"/>
              </a:ext>
            </a:extLst>
          </p:cNvPr>
          <p:cNvSpPr/>
          <p:nvPr/>
        </p:nvSpPr>
        <p:spPr>
          <a:xfrm>
            <a:off x="4560952" y="3429000"/>
            <a:ext cx="7112888" cy="3172042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blurRad="101600" dist="25400" dir="5400000" algn="bl" rotWithShape="0">
              <a:srgbClr val="9FB0B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DA47F2-2129-59DD-739C-9318309A7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470" y="3550920"/>
            <a:ext cx="6835062" cy="2977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21880" y="6244475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fixed square, centred on each car.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TRAINING · STEP 2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Matching the image sharpness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5760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images are sharper than ours, so we down-sample them to the same ~25 cm per pixel as the UK imagery.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should learn cars at the exact sharpness it will meet in use — and 25 cm sits in the range where cars stay clearly detectable.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Coarser satellite imagery falls off an accuracy cliff — which is precisely where earlier UK work failed.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040880" y="1920240"/>
            <a:ext cx="4480560" cy="3200400"/>
          </a:xfrm>
          <a:prstGeom prst="roundRect">
            <a:avLst>
              <a:gd name="adj" fmla="val 1714"/>
            </a:avLst>
          </a:prstGeom>
          <a:solidFill>
            <a:srgbClr val="ECE7DE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6092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30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60920" y="2606040"/>
            <a:ext cx="3886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Same sharpness in training and in use means no nasty surprises at deployment.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>
            <a:extLst>
              <a:ext uri="{FF2B5EF4-FFF2-40B4-BE49-F238E27FC236}">
                <a16:creationId xmlns:a16="http://schemas.microsoft.com/office/drawing/2014/main" id="{CFCB4337-4003-5665-C63E-E3A5EEDE7A12}"/>
              </a:ext>
            </a:extLst>
          </p:cNvPr>
          <p:cNvSpPr/>
          <p:nvPr/>
        </p:nvSpPr>
        <p:spPr>
          <a:xfrm>
            <a:off x="5363592" y="3055666"/>
            <a:ext cx="6533768" cy="3498573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blurRad="101600" dist="25400" dir="5400000" algn="bl" rotWithShape="0">
              <a:srgbClr val="9FB0B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15E2EA-3409-0008-29CB-A4AAECA75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192827"/>
            <a:ext cx="6339840" cy="3276553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822960" y="685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TRAINING · STEP 3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Cutting big scenes into bite-sized tiles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5760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Aerial scenes are far too large for the detector to read in one go, so each is cut into small, overlapping tiles.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overlap — plus an extra tile flush to each edge — guarantees every car appears whole in at least one tile, so nothing is lost at a seam.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766560" y="6537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tiles, with full edge coverage.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TRAINING · STEP 4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93268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Keeping the test honest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testing data are separated by whole site — never by tile — so the model is never quietly tested on a car park it also trained on.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Just eight sites are used to fine-tune, two to calibrate, and twenty are held back purely for testing — frozen before we saw any accuracy.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6463F0B0-49FB-FD29-A62B-ED1F87C4454C}"/>
              </a:ext>
            </a:extLst>
          </p:cNvPr>
          <p:cNvSpPr/>
          <p:nvPr/>
        </p:nvSpPr>
        <p:spPr>
          <a:xfrm>
            <a:off x="2128076" y="2767883"/>
            <a:ext cx="7970964" cy="3498573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blurRad="101600" dist="25400" dir="5400000" algn="bl" rotWithShape="0">
              <a:srgbClr val="9FB0B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E43300-F5CC-31BA-3D8B-F05AFFD06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2920515"/>
            <a:ext cx="7772400" cy="31933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625449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UK dataset composition: 30 sites — 8 fine-tune, 2 calibration, 20 held-out test.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>
            <a:extLst>
              <a:ext uri="{FF2B5EF4-FFF2-40B4-BE49-F238E27FC236}">
                <a16:creationId xmlns:a16="http://schemas.microsoft.com/office/drawing/2014/main" id="{88A4D93F-18ED-7CA2-1C2D-8F28A5486B76}"/>
              </a:ext>
            </a:extLst>
          </p:cNvPr>
          <p:cNvSpPr/>
          <p:nvPr/>
        </p:nvSpPr>
        <p:spPr>
          <a:xfrm>
            <a:off x="6858000" y="1763500"/>
            <a:ext cx="4663440" cy="4010936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blurRad="101600" dist="25400" dir="5400000" algn="bl" rotWithShape="0">
              <a:srgbClr val="9FB0B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822960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TRAINING · STEP 5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93268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Train each source — then combine them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5486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detector is trained on each source, and on both together.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 its own, each is strong on its own data but collapses on the other; combined, it keeps the dense-scene skill and regains the rest.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combined detector is the one carried into the UK.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/tmp/kfmedia/image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67728" y="1892808"/>
            <a:ext cx="4443984" cy="3803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0" y="58521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 the diagonal: specialists shine only on their own data; combined stays strong on both.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82296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UK CAR-PARK OCCUPANCY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280160" cy="0"/>
          </a:xfrm>
          <a:prstGeom prst="line">
            <a:avLst/>
          </a:prstGeom>
          <a:noFill/>
          <a:ln w="25400">
            <a:solidFill>
              <a:srgbClr val="B8A66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400" normalizeH="0" baseline="0" noProof="0" dirty="0">
                <a:ln>
                  <a:noFill/>
                </a:ln>
                <a:solidFill>
                  <a:srgbClr val="B8A6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Testing the Model on UK Data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44348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9AA0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clean, fair contest on twenty car parks the model never trained on.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/tmp/kf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502920"/>
            <a:ext cx="2194560" cy="90525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TESTING · THE DESIGN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93268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Three experiments to isolate what each step adds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 test three versions on the same twenty UK car parks — off-the-shelf, trained-elsewhere, and UK-adapted — so any difference is down to the adaptation alone.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97280" y="589788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Same held-out test set for all three versions.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82296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UK CAR-PARK OCCUPANCY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3FC0936A-027C-3688-C5FC-AD4138359F7B}"/>
              </a:ext>
            </a:extLst>
          </p:cNvPr>
          <p:cNvSpPr/>
          <p:nvPr/>
        </p:nvSpPr>
        <p:spPr>
          <a:xfrm>
            <a:off x="2976880" y="2365475"/>
            <a:ext cx="6918960" cy="4126765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blurRad="101600" dist="25400" dir="5400000" algn="bl" rotWithShape="0">
              <a:srgbClr val="9FB0B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DD6BC2-2D17-77BC-A557-2DBEC215A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080" y="2432378"/>
            <a:ext cx="6537960" cy="390075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TESTING · FAIRNESS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93268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Scoring it fairly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38328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78992" y="242316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Same benchmark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78992" y="2971800"/>
            <a:ext cx="28712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All three versions are judged on the identical twenty held-out car parks.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434840" y="2194560"/>
            <a:ext cx="338328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90872" y="242316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Generous baseline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90872" y="2971800"/>
            <a:ext cx="28712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off-the-shelf model is scored as leniently as possible, so it is not unfairly penalised.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046720" y="2194560"/>
            <a:ext cx="338328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302752" y="242316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No tuning on the test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302752" y="2971800"/>
            <a:ext cx="28712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point is set on separate calibration sites — never on the data it is judged against.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5349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an apples-to-apples comparison a reviewer can trust.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UK CAR-PARK OCCUPANCY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280160" cy="0"/>
          </a:xfrm>
          <a:prstGeom prst="line">
            <a:avLst/>
          </a:prstGeom>
          <a:noFill/>
          <a:ln w="25400">
            <a:solidFill>
              <a:srgbClr val="B8A66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400" normalizeH="0" baseline="0" noProof="0" dirty="0">
                <a:ln>
                  <a:noFill/>
                </a:ln>
                <a:solidFill>
                  <a:srgbClr val="B8A6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44348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9AA0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Does it work — accurately enough to compare stores?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/tmp/kf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502920"/>
            <a:ext cx="2194560" cy="90525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">
            <a:extLst>
              <a:ext uri="{FF2B5EF4-FFF2-40B4-BE49-F238E27FC236}">
                <a16:creationId xmlns:a16="http://schemas.microsoft.com/office/drawing/2014/main" id="{948B85A9-BAF3-C5E2-1736-49EFA719CC88}"/>
              </a:ext>
            </a:extLst>
          </p:cNvPr>
          <p:cNvSpPr/>
          <p:nvPr/>
        </p:nvSpPr>
        <p:spPr>
          <a:xfrm>
            <a:off x="6289040" y="2939796"/>
            <a:ext cx="5801360" cy="3461004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blurRad="101600" dist="25400" dir="5400000" algn="bl" rotWithShape="0">
              <a:srgbClr val="9FB0B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822960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93268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It works — and it's cheap to reach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5669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Accuracy climbed at each stage: off-the-shelf → trained elsewhere → adapted to the UK.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on just eight UK car parks added more accuracy than the entire broad-training stage.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commercial user does not need a large bespoke UK dataset — a small, carefully chosen set does most of the work.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44348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8 sites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532180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local data outweighed all the broad training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6797042" y="64008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 rises with each stage of adaptation.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2296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UK CAR-PARK OCCUPANCY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98A86F2-A3AF-68A5-DD0B-7B4041BEB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480" y="3066718"/>
            <a:ext cx="5598160" cy="313291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>
            <a:extLst>
              <a:ext uri="{FF2B5EF4-FFF2-40B4-BE49-F238E27FC236}">
                <a16:creationId xmlns:a16="http://schemas.microsoft.com/office/drawing/2014/main" id="{C4AEBAA9-D0CC-33A3-7E5C-8AB3656439A4}"/>
              </a:ext>
            </a:extLst>
          </p:cNvPr>
          <p:cNvSpPr/>
          <p:nvPr/>
        </p:nvSpPr>
        <p:spPr>
          <a:xfrm>
            <a:off x="497840" y="2692400"/>
            <a:ext cx="11206480" cy="2879852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blurRad="101600" dist="25400" dir="5400000" algn="bl" rotWithShape="0">
              <a:srgbClr val="9FB0B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822960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1 · SEEN ON ONE SITE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93268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You can see the improvement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same car park, read by each version — green is a correct car, red a false alarm, amber a miss. Errors fall away as the model is adapted.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822960" y="557225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UK023 — (a) stock YOLOv8  →  (b) trained elsewhere  →  (c) adapted on 8 UK sites.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82296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UK CAR-PARK OCCUPANCY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FD4EA1-1F38-93AB-8C55-4BD054C61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46" y="2772446"/>
            <a:ext cx="10957107" cy="269160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271B66-968A-1414-61AA-B7239A278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>
            <a:extLst>
              <a:ext uri="{FF2B5EF4-FFF2-40B4-BE49-F238E27FC236}">
                <a16:creationId xmlns:a16="http://schemas.microsoft.com/office/drawing/2014/main" id="{8C9B55BF-CCD0-639C-3A61-8B01C2345FEE}"/>
              </a:ext>
            </a:extLst>
          </p:cNvPr>
          <p:cNvSpPr/>
          <p:nvPr/>
        </p:nvSpPr>
        <p:spPr>
          <a:xfrm>
            <a:off x="5178669" y="2884932"/>
            <a:ext cx="5559552" cy="3461004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blurRad="101600" dist="25400" dir="5400000" algn="bl" rotWithShape="0">
              <a:srgbClr val="9FB0BC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A68ED02-C59C-566E-BEE1-1DB14C97527C}"/>
              </a:ext>
            </a:extLst>
          </p:cNvPr>
          <p:cNvSpPr/>
          <p:nvPr/>
        </p:nvSpPr>
        <p:spPr>
          <a:xfrm>
            <a:off x="822960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TESTING · THE DOMAIN GAP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AE2FCC0-DB2F-97DD-4611-86CEC5ADB50D}"/>
              </a:ext>
            </a:extLst>
          </p:cNvPr>
          <p:cNvSpPr/>
          <p:nvPr/>
        </p:nvSpPr>
        <p:spPr>
          <a:xfrm>
            <a:off x="822960" y="93268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gap to the UK — and how far we close it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FB1C198-0B90-B011-7FB1-49457A6E095C}"/>
              </a:ext>
            </a:extLst>
          </p:cNvPr>
          <p:cNvSpPr/>
          <p:nvPr/>
        </p:nvSpPr>
        <p:spPr>
          <a:xfrm>
            <a:off x="822960" y="1874520"/>
            <a:ext cx="5669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detector loses about two-fifths of its accuracy as the target moves from its own data to UK car parks.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Adapting on just eight UK sites recovers most of that gap — back to near its 'home' performance.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/sessions/affectionate-lucid-goodall/mnt/carpark-project/outputs/figures/report/fig_domain_gap.png">
            <a:extLst>
              <a:ext uri="{FF2B5EF4-FFF2-40B4-BE49-F238E27FC236}">
                <a16:creationId xmlns:a16="http://schemas.microsoft.com/office/drawing/2014/main" id="{41A59FA7-6BDB-160B-7006-63A9EE6105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21808" y="3031236"/>
            <a:ext cx="5273274" cy="3168396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009384F0-0848-8E8D-1B70-26AE36967346}"/>
              </a:ext>
            </a:extLst>
          </p:cNvPr>
          <p:cNvSpPr/>
          <p:nvPr/>
        </p:nvSpPr>
        <p:spPr>
          <a:xfrm>
            <a:off x="5672445" y="63459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Accuracy falls across domains, then fine-tuning recovers it.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57CBF74-01FD-9736-EBB2-0D9B751AB314}"/>
              </a:ext>
            </a:extLst>
          </p:cNvPr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058E1D0-39D3-29FF-3C2F-48927CA78100}"/>
              </a:ext>
            </a:extLst>
          </p:cNvPr>
          <p:cNvSpPr/>
          <p:nvPr/>
        </p:nvSpPr>
        <p:spPr>
          <a:xfrm>
            <a:off x="82296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UK CAR-PARK OCCUPANCY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1384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280160" cy="0"/>
          </a:xfrm>
          <a:prstGeom prst="line">
            <a:avLst/>
          </a:prstGeom>
          <a:noFill/>
          <a:ln w="25400">
            <a:solidFill>
              <a:srgbClr val="B8A66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400" normalizeH="0" baseline="0" noProof="0" dirty="0">
                <a:ln>
                  <a:noFill/>
                </a:ln>
                <a:solidFill>
                  <a:srgbClr val="B8A6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Counting &amp; Occupancy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44348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9AA0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Turning boxes on a picture into one number we can stand behind.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/tmp/kf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502920"/>
            <a:ext cx="2194560" cy="90525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DISCIPLINE THAT BUILDS TRUST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93268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Spotting cars is not the same as counting them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5852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system can look impressive at “spotting cars” yet still miscount — false alarms and missed cars can hide a wrong total.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 we checked counting accuracy separately from detection accuracy — something the closest prior UK study did not do.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Only a system that counts accurately can be trusted to estimate occupancy at all.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040880" y="1920240"/>
            <a:ext cx="4480560" cy="3291840"/>
          </a:xfrm>
          <a:prstGeom prst="roundRect">
            <a:avLst>
              <a:gd name="adj" fmla="val 1667"/>
            </a:avLst>
          </a:prstGeom>
          <a:solidFill>
            <a:srgbClr val="ECE7DE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60920" y="2194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30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60920" y="260604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 good detection score is not the same as a usable count. We report both — so the occupancy figure is defensible, not optimistic.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UK CAR-PARK OCCUPANCY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COUNTING · THE STEP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93268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Counting each car once — even across tile seams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5852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tiles overlap, a car sitting near a seam can be detected twice.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 merge detections that overlap across neighbouring tiles, so every physical car is counted exactly once.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Only then do we divide by the car park's capacity to get occupancy — the % full.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040880" y="1920240"/>
            <a:ext cx="4480560" cy="3291840"/>
          </a:xfrm>
          <a:prstGeom prst="roundRect">
            <a:avLst>
              <a:gd name="adj" fmla="val 1667"/>
            </a:avLst>
          </a:prstGeom>
          <a:solidFill>
            <a:srgbClr val="ECE7DE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60920" y="2194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30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OUTPUT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60920" y="260604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One honest count per site → occupancy = cars ÷ capacity. This is the number the whole project set out to produce.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UK CAR-PARK OCCUPANCY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DAD613-9767-5E78-A9C3-D3ACF32A8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2">
            <a:extLst>
              <a:ext uri="{FF2B5EF4-FFF2-40B4-BE49-F238E27FC236}">
                <a16:creationId xmlns:a16="http://schemas.microsoft.com/office/drawing/2014/main" id="{5B15B347-F0E5-AB43-E07B-087CAD26A3A9}"/>
              </a:ext>
            </a:extLst>
          </p:cNvPr>
          <p:cNvSpPr/>
          <p:nvPr/>
        </p:nvSpPr>
        <p:spPr>
          <a:xfrm>
            <a:off x="7315200" y="1755648"/>
            <a:ext cx="4287520" cy="4050792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blurRad="101600" dist="25400" dir="5400000" algn="bl" rotWithShape="0">
              <a:srgbClr val="9FB0BC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038F2994-A178-B1C8-A99B-191257CDB6CE}"/>
              </a:ext>
            </a:extLst>
          </p:cNvPr>
          <p:cNvSpPr/>
          <p:nvPr/>
        </p:nvSpPr>
        <p:spPr>
          <a:xfrm>
            <a:off x="822960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sz="1100" b="1" kern="0" spc="300" dirty="0">
                <a:solidFill>
                  <a:srgbClr val="2C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· RESULTS</a:t>
            </a:r>
            <a:endParaRPr lang="en-US" sz="1100" dirty="0">
              <a:solidFill>
                <a:prstClr val="black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079D17-56B4-5070-E026-ED6388F419D9}"/>
              </a:ext>
            </a:extLst>
          </p:cNvPr>
          <p:cNvSpPr/>
          <p:nvPr/>
        </p:nvSpPr>
        <p:spPr>
          <a:xfrm>
            <a:off x="822960" y="93268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Accurate enough to compare stores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3CAF232-E253-EF3C-202B-3189AAD905F7}"/>
              </a:ext>
            </a:extLst>
          </p:cNvPr>
          <p:cNvSpPr/>
          <p:nvPr/>
        </p:nvSpPr>
        <p:spPr>
          <a:xfrm>
            <a:off x="822960" y="187452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adapted system recovered how full each car park was to within about three percentage points of capacity.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Predicted and true counts line up almost perfectly along the diagonal.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That is accurate enough to rank and compare stores by how busy they are.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539AD68-66FC-E568-14ED-CF2C23F8717B}"/>
              </a:ext>
            </a:extLst>
          </p:cNvPr>
          <p:cNvSpPr/>
          <p:nvPr/>
        </p:nvSpPr>
        <p:spPr>
          <a:xfrm>
            <a:off x="822960" y="43891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2.6 pp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832867A-3482-59C7-6452-63B8535A0C88}"/>
              </a:ext>
            </a:extLst>
          </p:cNvPr>
          <p:cNvSpPr/>
          <p:nvPr/>
        </p:nvSpPr>
        <p:spPr>
          <a:xfrm>
            <a:off x="822960" y="527608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occupancy error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C465EA7-13D2-22F4-E8F3-7E68A54D0B22}"/>
              </a:ext>
            </a:extLst>
          </p:cNvPr>
          <p:cNvSpPr/>
          <p:nvPr/>
        </p:nvSpPr>
        <p:spPr>
          <a:xfrm>
            <a:off x="3931920" y="43891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R² 0.97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B276C54-4FF4-3C74-0ECA-EBD7D76D7896}"/>
              </a:ext>
            </a:extLst>
          </p:cNvPr>
          <p:cNvSpPr/>
          <p:nvPr/>
        </p:nvSpPr>
        <p:spPr>
          <a:xfrm>
            <a:off x="3931920" y="527608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 true count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/sessions/affectionate-lucid-goodall/mnt/carpark-project/outputs/figures/report/fig_occupancy_scatter.png">
            <a:extLst>
              <a:ext uri="{FF2B5EF4-FFF2-40B4-BE49-F238E27FC236}">
                <a16:creationId xmlns:a16="http://schemas.microsoft.com/office/drawing/2014/main" id="{F8DFCACC-D60D-3C78-CDC3-40D9B2090F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24928" y="1938528"/>
            <a:ext cx="3986784" cy="3712464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678C7BC7-4AC7-846F-B3D5-88A05D08941F}"/>
              </a:ext>
            </a:extLst>
          </p:cNvPr>
          <p:cNvSpPr/>
          <p:nvPr/>
        </p:nvSpPr>
        <p:spPr>
          <a:xfrm>
            <a:off x="7315200" y="5806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Green = the adapted model; it sits on the line.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51D63DD-FB1D-E3F6-F5AF-227C9EC9279F}"/>
              </a:ext>
            </a:extLst>
          </p:cNvPr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3BF9531-8AD0-F33F-ED86-25ED10C23B50}"/>
              </a:ext>
            </a:extLst>
          </p:cNvPr>
          <p:cNvSpPr/>
          <p:nvPr/>
        </p:nvSpPr>
        <p:spPr>
          <a:xfrm>
            <a:off x="82296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UK CAR-PARK OCCUPANCY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68742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280160" cy="0"/>
          </a:xfrm>
          <a:prstGeom prst="line">
            <a:avLst/>
          </a:prstGeom>
          <a:noFill/>
          <a:ln w="25400">
            <a:solidFill>
              <a:srgbClr val="B8A66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400" normalizeH="0" baseline="0" noProof="0" dirty="0">
                <a:ln>
                  <a:noFill/>
                </a:ln>
                <a:solidFill>
                  <a:srgbClr val="B8A6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From Counting to Geography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44348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9AA0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Not just how full — where inside the lot the demand sits.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/tmp/kf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502920"/>
            <a:ext cx="2194560" cy="90525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>
            <a:extLst>
              <a:ext uri="{FF2B5EF4-FFF2-40B4-BE49-F238E27FC236}">
                <a16:creationId xmlns:a16="http://schemas.microsoft.com/office/drawing/2014/main" id="{2495D907-266C-EC31-4971-5AA87F1FB31D}"/>
              </a:ext>
            </a:extLst>
          </p:cNvPr>
          <p:cNvSpPr/>
          <p:nvPr/>
        </p:nvSpPr>
        <p:spPr>
          <a:xfrm>
            <a:off x="6583680" y="2514600"/>
            <a:ext cx="5455920" cy="35661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blurRad="101600" dist="25400" dir="5400000" algn="bl" rotWithShape="0">
              <a:srgbClr val="9FB0BC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/>
          <p:cNvSpPr/>
          <p:nvPr/>
        </p:nvSpPr>
        <p:spPr>
          <a:xfrm>
            <a:off x="822960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GEOGRAPHY · METHOD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93268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How we measured “where demand sits”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5669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 each car we measure its distance to the store entrance — but we compare it against how far the car park's own space is from that entrance.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That comparison strips out lot shape, so a long thin car park can't fool the result.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If cars sit closer to the door than the average space does, demand is genuinely drawn to the entrance.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/sessions/affectionate-lucid-goodall/mnt/carpark-project/outputs/figures/entrance/fig_entrance_gradien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0" y="2602365"/>
            <a:ext cx="5455920" cy="33229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79920" y="60167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Fill is highest near the door, falling with distance.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82296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UK CAR-PARK OCCUPANCY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>
            <a:extLst>
              <a:ext uri="{FF2B5EF4-FFF2-40B4-BE49-F238E27FC236}">
                <a16:creationId xmlns:a16="http://schemas.microsoft.com/office/drawing/2014/main" id="{CDE5A04E-33FF-E248-981F-E7025333D6C5}"/>
              </a:ext>
            </a:extLst>
          </p:cNvPr>
          <p:cNvSpPr/>
          <p:nvPr/>
        </p:nvSpPr>
        <p:spPr>
          <a:xfrm>
            <a:off x="7040880" y="1801368"/>
            <a:ext cx="4480560" cy="4096512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blurRad="101600" dist="25400" dir="5400000" algn="bl" rotWithShape="0">
              <a:srgbClr val="9FB0BC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/>
          <p:cNvSpPr/>
          <p:nvPr/>
        </p:nvSpPr>
        <p:spPr>
          <a:xfrm>
            <a:off x="82296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3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Not just how full — where demand sits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5669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Because every car is located, we can map where cars concentrate within a lot.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sites, parking clusters around the store's pedestrian entrance — not where cars drive in.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area near the door is the most informative place to watch demand.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44805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18 / 20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53766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sites cluster at the store entrance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0" descr="/sessions/affectionate-lucid-goodall/mnt/carpark-project/outputs/figures/density/UK028_densit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50608" y="1892808"/>
            <a:ext cx="4261104" cy="3803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0880" y="58795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Heatmap of parking demand — warmer = denser.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93268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for the business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38328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78992" y="242316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Scalable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78992" y="2971800"/>
            <a:ext cx="28712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compares many stores from above, on equal terms — no equipment at each site.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434840" y="2194560"/>
            <a:ext cx="338328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90872" y="242316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Affordable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90872" y="2971800"/>
            <a:ext cx="28712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Eight labelled sites, not a large bespoke dataset, are enough to reach a deployable standard.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046720" y="2194560"/>
            <a:ext cx="338328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302752" y="242316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Richer than a number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302752" y="2971800"/>
            <a:ext cx="28712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within-lot picture of where demand falls — information a single occupancy figure hides.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5349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scalable, defensible way to compare how busy stores are from above — and to see where their demand concentrates.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UK CAR-PARK OCCUPANCY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Today a snapshot — next, a trend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97280" y="2286000"/>
            <a:ext cx="429768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53312" y="2514600"/>
            <a:ext cx="3785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53312" y="3063240"/>
            <a:ext cx="37856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image per site gives how full a car park is — a single moment in time.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532120" y="2286000"/>
            <a:ext cx="731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2C4A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0" y="2286000"/>
            <a:ext cx="429768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56832" y="2514600"/>
            <a:ext cx="3785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656832" y="3063240"/>
            <a:ext cx="37856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F6A6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imagery over time and the same system turns snapshots into activity — the rise and fall of trade across hours, days and seasons.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1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data-collection step, not a new method — the pipeline is already built to consume it.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f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2194560" cy="9052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651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B8A6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822960" y="30175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822960" y="41148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AA0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Paula Xho Vilajeti  ·  ucabpxv@ucl.ac.uk  ·  UCL Department of Computer Science  ·  in partnership with Knight Frank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3365</Words>
  <Application>Microsoft Macintosh PowerPoint</Application>
  <PresentationFormat>Widescreen</PresentationFormat>
  <Paragraphs>321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Paolaxho Vilajeti</cp:lastModifiedBy>
  <cp:revision>5</cp:revision>
  <dcterms:created xsi:type="dcterms:W3CDTF">2026-08-03T16:20:49Z</dcterms:created>
  <dcterms:modified xsi:type="dcterms:W3CDTF">2026-08-03T21:40:55Z</dcterms:modified>
</cp:coreProperties>
</file>